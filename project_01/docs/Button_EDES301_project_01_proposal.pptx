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handoutMasterIdLst>
    <p:handoutMasterId r:id="rId8"/>
  </p:handoutMasterIdLst>
  <p:sldIdLst>
    <p:sldId id="261" r:id="rId2"/>
    <p:sldId id="36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94706" autoAdjust="0"/>
  </p:normalViewPr>
  <p:slideViewPr>
    <p:cSldViewPr>
      <p:cViewPr varScale="1">
        <p:scale>
          <a:sx n="104" d="100"/>
          <a:sy n="104" d="100"/>
        </p:scale>
        <p:origin x="212" y="176"/>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2" d="100"/>
          <a:sy n="82" d="100"/>
        </p:scale>
        <p:origin x="3852" y="78"/>
      </p:cViewPr>
      <p:guideLst/>
    </p:cSldViewPr>
  </p:notesViewPr>
  <p:gridSpacing cx="38100" cy="381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10/7/2026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Controls: two 30 mm momentary buttons for LAP/FINISH and RIDER OUT, plus two smaller kit/OEDK momentary buttons for START/SETUP and UNDO. Use four 10 kOhm pull-up resistors to the 3.3 V rail unless a verified class-supported internal pull-up arrangement replaces them. A switch press connects its input to ground. Configure the GPIO pins and debounce each input. Label the timing buttons clearly. The buttons' supplier examples do not include lighting.</a:t>
            </a:r>
          </a:p>
          <a:p>
            <a:endParaRPr/>
          </a:p>
          <a:p>
            <a:r>
              <a:t>Display: approved Adafruit 1770 ILI9341 breakout, SPI data/clock plus chip-select, data/command and reset as required by the chosen driver. Use 3.3 V logic. Leave touch sensing and the display's auxiliary microSD socket unused. Existing PocketBeagle microSD holds Linux, roster and output files. A laptop transfers roster files before racing and retrieves results afterward through the board's existing USB connection; the race program does not require networking.</a:t>
            </a:r>
          </a:p>
          <a:p>
            <a:endParaRPr/>
          </a:p>
          <a:p>
            <a:r>
              <a:t>Timing behavior: START begins the overall clock and opening waiting interval. RIDER OUT saves that interval and starts rider 1, lap 1. LAP/FINISH records each lap. After lap 3 in men's mode or lap 2 in women's mode, the same event closes the leg and opens the next pit interval. RIDER OUT closes that pit and starts the next rider. Rider 8's final lap finishes the race without opening another pit. Store all timestamps so undo can rebuild results without resetting the race clock. A missed crossing cannot be assigned an invented split.</a:t>
            </a:r>
          </a:p>
          <a:p>
            <a:endParaRPr/>
          </a:p>
          <a:p>
            <a:r>
              <a:t>Timing assumption: 'pit' means the entire finish-to-release transition, not isolated chug duration. Confirm the start/finish reference and any departure crossing so a partial lap is not counted as a full lap.</a:t>
            </a:r>
          </a:p>
          <a:p>
            <a:endParaRPr/>
          </a:p>
          <a:p>
            <a:r>
              <a:t>Implementation milestones: week 1, display and button tests; week 2, timing states and file output; week 3, enclosure and integration; week 4, simulated 8-rider races in both modes, correction tests, power-on startup and documentation. Software class diagram is a later assignment deliverable, due October 23.</a:t>
            </a:r>
          </a:p>
          <a:p>
            <a:endParaRPr/>
          </a:p>
          <a:p>
            <a:r>
              <a:t>References: https://docs.beagleboard.org/boards/pocketbeagle/ch05.html ; https://www.adafruit.com/product/1770 ; https://circuitpython.org/blinka/pocketbeagle/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diagram separates 5 V power from 3.3 V logic. The approved adjustable 2 A adapter is listed in EDES301_project_01_parts_list.xlsx, Sheet1 row 44, approximately $15.98: https://www.amazon.com/dp/B01N2K48HR . Set the output to 5 V and verify polarity/connector compatibility before connecting the board. The class prototype can use this adapter. A separately verified commercial 5 V USB battery pack is a possible later replacement for outdoor use and is not included in this baseline budget.</a:t>
            </a:r>
          </a:p>
          <a:p>
            <a:endParaRPr/>
          </a:p>
          <a:p>
            <a:r>
              <a:t>The 0.50 A PocketBeagle and 0.15 A TFT values are conservative proposal planning allowances selected for sizing, not manufacturer maxima or measured results. Validate peak current, startup behavior, backlight draw, supply distribution and board output-current limits during prototyping. The board allowance includes its microSD and the very small button-input load. Main 5 V planning load is approximately 0.65 A, below the proposed 2 A source rating; this arithmetic is not a completed electrical validation.</a:t>
            </a:r>
          </a:p>
          <a:p>
            <a:endParaRPr/>
          </a:p>
          <a:p>
            <a:r>
              <a:t>Four 10 kOhm pull-ups at 3.3 V draw 4 * 3.3/10000 A = 1.32 mA when all four switches are pressed. They are passive switches with no LED load. All grounds are common. The TFT breakout accepts 3-5 V power/logic, but this design uses 3.3 V signals for compatibility with PocketBeagle.</a:t>
            </a:r>
          </a:p>
          <a:p>
            <a:endParaRPr/>
          </a:p>
          <a:p>
            <a:r>
              <a:t>One active power source at a time. PocketBeagle USB and header power paths need review against the manual so a programming computer is not back-fed by the external source. This is a block diagram, not a pin-level wiring schematic.</a:t>
            </a:r>
          </a:p>
          <a:p>
            <a:endParaRPr/>
          </a:p>
          <a:p>
            <a:r>
              <a:t>Sources: https://docs.beagleboard.org/boards/pocketbeagle/ch05.html ; https://docs.beagleboard.org/accessories/power-supplies.html ; https://www.adafruit.com/product/1770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Budget basis, October 7, 2026. New electronics subtotal is 29.95 + 2*5.95 + 15.98 = $57.83. The proposed class request is the display, $29.95. Other listed new electronics total $27.88; these are proposed student-funded items, not purchases already made or authorized. Tax, shipping and fabrication costs are not included. If the available class contribution is only $25, the display alone leaves $4.95 to fund separately. Reusing a suitable existing supply would reduce new cost.</a:t>
            </a:r>
          </a:p>
          <a:p>
            <a:endParaRPr/>
          </a:p>
          <a:p>
            <a:r>
              <a:t>Approved list: EDES301_project_01_parts_list.xlsx, Sheet1 row 15, SPI screen, Adafruit 1770, $29.95; row 44, adjustable voltage adapter (2 A), $15.98 approximate class price. Display link: https://www.adafruit.com/product/1770 . Adapter link: https://www.amazon.com/dp/B01N2K48HR . The manufacturer lists the screen at $29.95 on the date checked.</a:t>
            </a:r>
          </a:p>
          <a:p>
            <a:endParaRPr/>
          </a:p>
          <a:p>
            <a:r>
              <a:t>Two off-list items: two identical Adafruit 471 30 mm translucent clear arcade buttons, $5.95 each, https://www.adafruit.com/product/471 . They have switches but no built-in lighting. Label one LAP/FINISH and one RIDER OUT. Use stock wire soldered to terminals if appropriate; optional quick-connect harnesses are not included. Instructor should verify the interpretation of the two off-list component allowance and the planned stock items before ordering.</a:t>
            </a:r>
          </a:p>
          <a:p>
            <a:endParaRPr/>
          </a:p>
          <a:p>
            <a:r>
              <a:t>Existing PocketBeagle, microSD and USB cable are based on the user's class setup. Kit/OEDK supply of two small momentary buttons, four 10 kOhm resistors, prototype board, wire, headers, enclosure stock and fasteners has not been inventoried. Zero entries are conditional incremental costs, not assertions that these items are free or currently available. If any require purchase, add exact approved-supplier links and revise the total/off-list count. The enclosure will be fabricated rather than purchased as a finished case.</a:t>
            </a:r>
          </a:p>
          <a:p>
            <a:endParaRPr/>
          </a:p>
          <a:p>
            <a:r>
              <a:t>The template asks for purchase links for components. Exact links are embedded for all proposed new electronics. Kit/OEDK components and fabrication stock require an inventory check; this remains a draft budget until that check is complete. No touchscreen controller, Wi-Fi adapter or separate display microSD is needed for the initial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1"/>
          </a:xfrm>
        </p:spPr>
        <p:txBody>
          <a:bodyPr/>
          <a:lstStyle/>
          <a:p>
            <a:r>
              <a:rPr lang="en-US"/>
              <a:t>Click to edit Master title style</a:t>
            </a:r>
          </a:p>
        </p:txBody>
      </p:sp>
      <p:sp>
        <p:nvSpPr>
          <p:cNvPr id="3" name="Content Placeholder 2"/>
          <p:cNvSpPr>
            <a:spLocks noGrp="1"/>
          </p:cNvSpPr>
          <p:nvPr>
            <p:ph idx="1"/>
          </p:nvPr>
        </p:nvSpPr>
        <p:spPr>
          <a:xfrm>
            <a:off x="609600" y="1295400"/>
            <a:ext cx="10972800" cy="47243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10/7/2026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10/7/2026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10/7/2026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10/7/2026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10/7/2026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10/7/2026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10/7/2026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10/7/2026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10/7/2026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topwatches.com/products/ultrak-495-100-dual-split-memory?utm_source=chatgpt.com" TargetMode="External"/><Relationship Id="rId2" Type="http://schemas.openxmlformats.org/officeDocument/2006/relationships/hyperlink" Target="https://www.doscher.com/work-recovery-kit/?utm_source=chatgpt.com"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dafruit.com/product/177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www.amazon.com/dp/B01N2K48HR" TargetMode="External"/><Relationship Id="rId4" Type="http://schemas.openxmlformats.org/officeDocument/2006/relationships/hyperlink" Target="https://www.adafruit.com/product/47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4" y="1909346"/>
            <a:ext cx="9907555" cy="3383280"/>
          </a:xfrm>
        </p:spPr>
        <p:txBody>
          <a:bodyPr>
            <a:normAutofit/>
          </a:bodyPr>
          <a:lstStyle/>
          <a:p>
            <a:r>
              <a:rPr lang="en-US" sz="6000" dirty="0"/>
              <a:t>EDES 301</a:t>
            </a:r>
            <a:br>
              <a:rPr lang="en-US" sz="6000" dirty="0"/>
            </a:br>
            <a:br>
              <a:rPr lang="en-US" dirty="0"/>
            </a:br>
            <a:r>
              <a:rPr lang="en-US" sz="6000" dirty="0"/>
              <a:t>Beer Bike Pit Console</a:t>
            </a:r>
            <a:br>
              <a:rPr lang="en-US" sz="6000" dirty="0"/>
            </a:br>
            <a:r>
              <a:rPr lang="en-US" sz="3200" dirty="0"/>
              <a:t>Project Proposal</a:t>
            </a:r>
            <a:endParaRPr lang="en-US" dirty="0"/>
          </a:p>
        </p:txBody>
      </p:sp>
      <p:sp>
        <p:nvSpPr>
          <p:cNvPr id="3" name="Subtitle 2"/>
          <p:cNvSpPr>
            <a:spLocks noGrp="1"/>
          </p:cNvSpPr>
          <p:nvPr>
            <p:ph type="subTitle" idx="1"/>
          </p:nvPr>
        </p:nvSpPr>
        <p:spPr>
          <a:xfrm>
            <a:off x="1293845" y="5432564"/>
            <a:ext cx="9604310" cy="1120636"/>
          </a:xfrm>
        </p:spPr>
        <p:txBody>
          <a:bodyPr/>
          <a:lstStyle/>
          <a:p>
            <a:r>
              <a:rPr lang="en-US" dirty="0"/>
              <a:t>7 October 2026</a:t>
            </a:r>
          </a:p>
          <a:p>
            <a:r>
              <a:rPr lang="en-US" sz="1800" dirty="0"/>
              <a:t>Owen Button</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39A49-57C9-4BE3-8B38-E944EB81906A}"/>
              </a:ext>
            </a:extLst>
          </p:cNvPr>
          <p:cNvSpPr>
            <a:spLocks noGrp="1"/>
          </p:cNvSpPr>
          <p:nvPr>
            <p:ph type="title"/>
          </p:nvPr>
        </p:nvSpPr>
        <p:spPr/>
        <p:txBody>
          <a:bodyPr/>
          <a:lstStyle/>
          <a:p>
            <a:r>
              <a:rPr lang="en-US" dirty="0"/>
              <a:t>Background Information</a:t>
            </a:r>
          </a:p>
        </p:txBody>
      </p:sp>
      <p:sp>
        <p:nvSpPr>
          <p:cNvPr id="3" name="Content Placeholder 2">
            <a:extLst>
              <a:ext uri="{FF2B5EF4-FFF2-40B4-BE49-F238E27FC236}">
                <a16:creationId xmlns:a16="http://schemas.microsoft.com/office/drawing/2014/main" id="{8ED8AE04-697D-4784-A672-E28DA6A47AB6}"/>
              </a:ext>
            </a:extLst>
          </p:cNvPr>
          <p:cNvSpPr>
            <a:spLocks noGrp="1"/>
          </p:cNvSpPr>
          <p:nvPr>
            <p:ph idx="1"/>
          </p:nvPr>
        </p:nvSpPr>
        <p:spPr/>
        <p:txBody>
          <a:bodyPr>
            <a:normAutofit lnSpcReduction="10000"/>
          </a:bodyPr>
          <a:lstStyle/>
          <a:p>
            <a:pPr lvl="1"/>
            <a:r>
              <a:rPr lang="en-US" dirty="0"/>
              <a:t>Beer Bike Pit Console</a:t>
            </a:r>
          </a:p>
          <a:p>
            <a:pPr lvl="2"/>
            <a:r>
              <a:rPr lang="en-US" dirty="0"/>
              <a:t>Brown Bike Team</a:t>
            </a:r>
          </a:p>
          <a:p>
            <a:pPr lvl="2"/>
            <a:r>
              <a:rPr lang="en-US" dirty="0"/>
              <a:t>Race timing device tailored for Beer Bike at Rice University</a:t>
            </a:r>
          </a:p>
          <a:p>
            <a:pPr lvl="2"/>
            <a:r>
              <a:rPr lang="en-US" dirty="0"/>
              <a:t>Cyberdeck-style build</a:t>
            </a:r>
          </a:p>
          <a:p>
            <a:pPr marL="506412" lvl="2" indent="0">
              <a:buNone/>
            </a:pPr>
            <a:endParaRPr lang="en-US" dirty="0"/>
          </a:p>
          <a:p>
            <a:pPr lvl="2"/>
            <a:r>
              <a:rPr lang="en-US" dirty="0"/>
              <a:t>In race, console would record times for pit/chug, and rider segments (including lap splits)</a:t>
            </a:r>
          </a:p>
          <a:p>
            <a:pPr lvl="2"/>
            <a:r>
              <a:rPr lang="en-US" dirty="0"/>
              <a:t>Console would transition between bikers and pits automatically</a:t>
            </a:r>
          </a:p>
          <a:p>
            <a:pPr lvl="2"/>
            <a:r>
              <a:rPr lang="en-US" dirty="0"/>
              <a:t>Would include separate modes for Alumni, </a:t>
            </a:r>
            <a:r>
              <a:rPr lang="en-US" dirty="0" err="1"/>
              <a:t>Womens</a:t>
            </a:r>
            <a:r>
              <a:rPr lang="en-US" dirty="0"/>
              <a:t>, and </a:t>
            </a:r>
            <a:r>
              <a:rPr lang="en-US" dirty="0" err="1"/>
              <a:t>Mens</a:t>
            </a:r>
            <a:r>
              <a:rPr lang="en-US" dirty="0"/>
              <a:t> races</a:t>
            </a:r>
          </a:p>
          <a:p>
            <a:pPr lvl="1"/>
            <a:r>
              <a:rPr lang="en-US" dirty="0"/>
              <a:t>Cyberdeck example</a:t>
            </a:r>
          </a:p>
          <a:p>
            <a:pPr lvl="2"/>
            <a:r>
              <a:rPr lang="en-US" dirty="0">
                <a:hlinkClick r:id="rId2"/>
              </a:rPr>
              <a:t>the Raspberry Pi Recovery Kit</a:t>
            </a:r>
            <a:endParaRPr lang="en-US" dirty="0"/>
          </a:p>
          <a:p>
            <a:pPr lvl="1"/>
            <a:r>
              <a:rPr lang="en-US" dirty="0"/>
              <a:t>Stopwatch example</a:t>
            </a:r>
          </a:p>
          <a:p>
            <a:pPr lvl="2"/>
            <a:r>
              <a:rPr lang="en-US" dirty="0">
                <a:hlinkClick r:id="rId3"/>
              </a:rPr>
              <a:t>ULTRAK 495 - 100 Dual Split Memory Stopwatch – SEIKO &amp; </a:t>
            </a:r>
            <a:r>
              <a:rPr lang="en-US" dirty="0" err="1">
                <a:hlinkClick r:id="rId3"/>
              </a:rPr>
              <a:t>Ultrak</a:t>
            </a:r>
            <a:r>
              <a:rPr lang="en-US" dirty="0">
                <a:hlinkClick r:id="rId3"/>
              </a:rPr>
              <a:t> Timing from CEI</a:t>
            </a:r>
            <a:endParaRPr lang="en-US" dirty="0"/>
          </a:p>
          <a:p>
            <a:pPr lvl="1"/>
            <a:r>
              <a:rPr lang="en-US" dirty="0"/>
              <a:t>Adafruit</a:t>
            </a:r>
          </a:p>
          <a:p>
            <a:pPr lvl="2"/>
            <a:r>
              <a:rPr lang="en-US" dirty="0"/>
              <a:t>Blinka &amp; RGB Display Libraries</a:t>
            </a:r>
          </a:p>
        </p:txBody>
      </p:sp>
      <p:pic>
        <p:nvPicPr>
          <p:cNvPr id="5" name="Picture 4" descr="Compact pi based cyberdeck with mechanical keyboard – Artofit">
            <a:extLst>
              <a:ext uri="{FF2B5EF4-FFF2-40B4-BE49-F238E27FC236}">
                <a16:creationId xmlns:a16="http://schemas.microsoft.com/office/drawing/2014/main" id="{7F75EAE5-BC63-0851-F548-61B879D3D286}"/>
              </a:ext>
            </a:extLst>
          </p:cNvPr>
          <p:cNvPicPr>
            <a:picLocks noChangeAspect="1"/>
          </p:cNvPicPr>
          <p:nvPr/>
        </p:nvPicPr>
        <p:blipFill>
          <a:blip r:embed="rId4"/>
          <a:stretch>
            <a:fillRect/>
          </a:stretch>
        </p:blipFill>
        <p:spPr>
          <a:xfrm>
            <a:off x="7848600" y="495300"/>
            <a:ext cx="3024476" cy="2016318"/>
          </a:xfrm>
          <a:prstGeom prst="rect">
            <a:avLst/>
          </a:prstGeom>
        </p:spPr>
      </p:pic>
    </p:spTree>
    <p:extLst>
      <p:ext uri="{BB962C8B-B14F-4D97-AF65-F5344CB8AC3E}">
        <p14:creationId xmlns:p14="http://schemas.microsoft.com/office/powerpoint/2010/main" val="3519531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p:cNvCxnSpPr>
            <a:stCxn id="5" idx="2"/>
            <a:endCxn id="11" idx="0"/>
          </p:cNvCxnSpPr>
          <p:nvPr/>
        </p:nvCxnSpPr>
        <p:spPr>
          <a:xfrm>
            <a:off x="6057900" y="3619500"/>
            <a:ext cx="0" cy="676275"/>
          </a:xfrm>
          <a:prstGeom prst="straightConnector1">
            <a:avLst/>
          </a:prstGeom>
          <a:ln w="19050">
            <a:solidFill>
              <a:srgbClr val="276F8B"/>
            </a:solidFill>
          </a:ln>
        </p:spPr>
      </p:cxnSp>
      <p:cxnSp>
        <p:nvCxnSpPr>
          <p:cNvPr id="16" name="Straight Arrow Connector 15"/>
          <p:cNvCxnSpPr>
            <a:stCxn id="5" idx="3"/>
            <a:endCxn id="6" idx="1"/>
          </p:cNvCxnSpPr>
          <p:nvPr/>
        </p:nvCxnSpPr>
        <p:spPr>
          <a:xfrm>
            <a:off x="7677150" y="2881313"/>
            <a:ext cx="1314450" cy="0"/>
          </a:xfrm>
          <a:prstGeom prst="straightConnector1">
            <a:avLst/>
          </a:prstGeom>
          <a:ln w="19050">
            <a:solidFill>
              <a:srgbClr val="276F8B"/>
            </a:solidFill>
            <a:tailEnd type="triangle" w="sm" len="sm"/>
          </a:ln>
        </p:spPr>
      </p:cxnSp>
      <p:cxnSp>
        <p:nvCxnSpPr>
          <p:cNvPr id="17" name="Straight Arrow Connector 16"/>
          <p:cNvCxnSpPr>
            <a:stCxn id="4" idx="3"/>
            <a:endCxn id="5" idx="1"/>
          </p:cNvCxnSpPr>
          <p:nvPr/>
        </p:nvCxnSpPr>
        <p:spPr>
          <a:xfrm>
            <a:off x="3324225" y="2881313"/>
            <a:ext cx="1114425" cy="0"/>
          </a:xfrm>
          <a:prstGeom prst="straightConnector1">
            <a:avLst/>
          </a:prstGeom>
          <a:ln w="19050">
            <a:solidFill>
              <a:srgbClr val="276F8B"/>
            </a:solidFill>
            <a:tailEnd type="triangle" w="sm" len="sm"/>
          </a:ln>
        </p:spPr>
      </p:cxnSp>
      <p:sp>
        <p:nvSpPr>
          <p:cNvPr id="2" name="Title 1">
            <a:extLst>
              <a:ext uri="{FF2B5EF4-FFF2-40B4-BE49-F238E27FC236}">
                <a16:creationId xmlns:a16="http://schemas.microsoft.com/office/drawing/2014/main" id="{935B93E4-AB7E-4F3D-B6C5-4ED4B78FA4AF}"/>
              </a:ext>
            </a:extLst>
          </p:cNvPr>
          <p:cNvSpPr>
            <a:spLocks noGrp="1"/>
          </p:cNvSpPr>
          <p:nvPr>
            <p:ph type="title"/>
          </p:nvPr>
        </p:nvSpPr>
        <p:spPr/>
        <p:txBody>
          <a:bodyPr/>
          <a:lstStyle/>
          <a:p>
            <a:r>
              <a:rPr dirty="0"/>
              <a:t>System Block Diagram</a:t>
            </a:r>
          </a:p>
        </p:txBody>
      </p:sp>
      <p:sp>
        <p:nvSpPr>
          <p:cNvPr id="3" name="System scope">
            <a:extLst>
              <a:ext uri="{FF2B5EF4-FFF2-40B4-BE49-F238E27FC236}">
                <a16:creationId xmlns:a16="http://schemas.microsoft.com/office/drawing/2014/main" id="{A8A24898-84F1-444E-A111-A006D9B579BE}"/>
              </a:ext>
            </a:extLst>
          </p:cNvPr>
          <p:cNvSpPr>
            <a:spLocks noGrp="1"/>
          </p:cNvSpPr>
          <p:nvPr/>
        </p:nvSpPr>
        <p:spPr>
          <a:xfrm>
            <a:off x="609600" y="1304925"/>
            <a:ext cx="10668000" cy="361950"/>
          </a:xfrm>
          <a:prstGeom prst="rect">
            <a:avLst/>
          </a:prstGeom>
          <a:noFill/>
          <a:ln w="0">
            <a:noFill/>
          </a:ln>
        </p:spPr>
        <p:txBody>
          <a:bodyPr lIns="0" tIns="0" rIns="0" bIns="0" anchor="t">
            <a:noAutofit/>
          </a:bodyPr>
          <a:lstStyle/>
          <a:p>
            <a:pPr>
              <a:defRPr sz="2000" b="0">
                <a:solidFill>
                  <a:srgbClr val="000000"/>
                </a:solidFill>
                <a:latin typeface="Arial"/>
                <a:ea typeface="Arial"/>
                <a:cs typeface="Arial"/>
              </a:defRPr>
            </a:pPr>
            <a:r>
              <a:rPr sz="2000" b="0">
                <a:solidFill>
                  <a:srgbClr val="000000"/>
                </a:solidFill>
                <a:latin typeface="Arial"/>
                <a:ea typeface="Arial"/>
                <a:cs typeface="Arial"/>
              </a:rPr>
              <a:t>Physical interfaces and local data storage</a:t>
            </a:r>
          </a:p>
        </p:txBody>
      </p:sp>
      <p:sp>
        <p:nvSpPr>
          <p:cNvPr id="4" name="Operator controls">
            <a:extLst>
              <a:ext uri="{FF2B5EF4-FFF2-40B4-BE49-F238E27FC236}">
                <a16:creationId xmlns:a16="http://schemas.microsoft.com/office/drawing/2014/main" id="{79D5ADCA-B158-457F-A80B-B4956F18E0F9}"/>
              </a:ext>
            </a:extLst>
          </p:cNvPr>
          <p:cNvSpPr>
            <a:spLocks noGrp="1"/>
          </p:cNvSpPr>
          <p:nvPr/>
        </p:nvSpPr>
        <p:spPr>
          <a:xfrm>
            <a:off x="609600" y="2143125"/>
            <a:ext cx="2714625" cy="14763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LAP / FINISH</a:t>
            </a:r>
          </a:p>
          <a:p>
            <a:pPr algn="ctr">
              <a:defRPr sz="2000">
                <a:solidFill>
                  <a:srgbClr val="000000"/>
                </a:solidFill>
                <a:latin typeface="Arial"/>
                <a:ea typeface="Arial"/>
                <a:cs typeface="Arial"/>
              </a:defRPr>
            </a:pPr>
            <a:r>
              <a:rPr sz="2000">
                <a:solidFill>
                  <a:srgbClr val="000000"/>
                </a:solidFill>
                <a:latin typeface="Arial"/>
                <a:ea typeface="Arial"/>
                <a:cs typeface="Arial"/>
              </a:rPr>
              <a:t>RIDER OUT</a:t>
            </a:r>
          </a:p>
          <a:p>
            <a:pPr algn="ctr">
              <a:defRPr sz="2000">
                <a:solidFill>
                  <a:srgbClr val="000000"/>
                </a:solidFill>
                <a:latin typeface="Arial"/>
                <a:ea typeface="Arial"/>
                <a:cs typeface="Arial"/>
              </a:defRPr>
            </a:pPr>
            <a:r>
              <a:rPr sz="2000">
                <a:solidFill>
                  <a:srgbClr val="000000"/>
                </a:solidFill>
                <a:latin typeface="Arial"/>
                <a:ea typeface="Arial"/>
                <a:cs typeface="Arial"/>
              </a:rPr>
              <a:t>Start / setup + undo</a:t>
            </a:r>
          </a:p>
        </p:txBody>
      </p:sp>
      <p:sp>
        <p:nvSpPr>
          <p:cNvPr id="5" name="PocketBeagle processor">
            <a:extLst>
              <a:ext uri="{FF2B5EF4-FFF2-40B4-BE49-F238E27FC236}">
                <a16:creationId xmlns:a16="http://schemas.microsoft.com/office/drawing/2014/main" id="{60A93283-32E1-434A-8B6B-D52237A96822}"/>
              </a:ext>
            </a:extLst>
          </p:cNvPr>
          <p:cNvSpPr>
            <a:spLocks noGrp="1"/>
          </p:cNvSpPr>
          <p:nvPr/>
        </p:nvSpPr>
        <p:spPr>
          <a:xfrm>
            <a:off x="4438650" y="2143125"/>
            <a:ext cx="3238500" cy="14763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PocketBeagle</a:t>
            </a:r>
          </a:p>
          <a:p>
            <a:pPr algn="ctr">
              <a:defRPr sz="2000">
                <a:solidFill>
                  <a:srgbClr val="000000"/>
                </a:solidFill>
                <a:latin typeface="Arial"/>
                <a:ea typeface="Arial"/>
                <a:cs typeface="Arial"/>
              </a:defRPr>
            </a:pPr>
            <a:r>
              <a:rPr sz="2000">
                <a:solidFill>
                  <a:srgbClr val="000000"/>
                </a:solidFill>
                <a:latin typeface="Arial"/>
                <a:ea typeface="Arial"/>
                <a:cs typeface="Arial"/>
              </a:rPr>
              <a:t>Python timing program</a:t>
            </a:r>
          </a:p>
        </p:txBody>
      </p:sp>
      <p:sp>
        <p:nvSpPr>
          <p:cNvPr id="6" name="Color display">
            <a:extLst>
              <a:ext uri="{FF2B5EF4-FFF2-40B4-BE49-F238E27FC236}">
                <a16:creationId xmlns:a16="http://schemas.microsoft.com/office/drawing/2014/main" id="{EAD950BE-ACD2-4D64-9DC9-16FE87DCDE0E}"/>
              </a:ext>
            </a:extLst>
          </p:cNvPr>
          <p:cNvSpPr>
            <a:spLocks noGrp="1"/>
          </p:cNvSpPr>
          <p:nvPr/>
        </p:nvSpPr>
        <p:spPr>
          <a:xfrm>
            <a:off x="8991600" y="2143125"/>
            <a:ext cx="2590800" cy="14763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Adafruit 1770</a:t>
            </a:r>
          </a:p>
          <a:p>
            <a:pPr algn="ctr">
              <a:defRPr sz="2000">
                <a:solidFill>
                  <a:srgbClr val="000000"/>
                </a:solidFill>
                <a:latin typeface="Arial"/>
                <a:ea typeface="Arial"/>
                <a:cs typeface="Arial"/>
              </a:defRPr>
            </a:pPr>
            <a:r>
              <a:rPr sz="2000">
                <a:solidFill>
                  <a:srgbClr val="000000"/>
                </a:solidFill>
                <a:latin typeface="Arial"/>
                <a:ea typeface="Arial"/>
                <a:cs typeface="Arial"/>
              </a:rPr>
              <a:t>2.8-inch TFT</a:t>
            </a:r>
          </a:p>
        </p:txBody>
      </p:sp>
      <p:sp>
        <p:nvSpPr>
          <p:cNvPr id="9" name="GPIO label">
            <a:extLst>
              <a:ext uri="{FF2B5EF4-FFF2-40B4-BE49-F238E27FC236}">
                <a16:creationId xmlns:a16="http://schemas.microsoft.com/office/drawing/2014/main" id="{E2F02750-DCB5-4A84-9A30-408AE1F09A14}"/>
              </a:ext>
            </a:extLst>
          </p:cNvPr>
          <p:cNvSpPr>
            <a:spLocks noGrp="1"/>
          </p:cNvSpPr>
          <p:nvPr/>
        </p:nvSpPr>
        <p:spPr>
          <a:xfrm>
            <a:off x="3371850" y="2266950"/>
            <a:ext cx="1028700" cy="552450"/>
          </a:xfrm>
          <a:prstGeom prst="rect">
            <a:avLst/>
          </a:prstGeom>
          <a:noFill/>
          <a:ln w="0">
            <a:noFill/>
          </a:ln>
        </p:spPr>
        <p:txBody>
          <a:bodyPr lIns="0" tIns="0" rIns="0" bIns="0" anchor="t">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GPIO</a:t>
            </a:r>
          </a:p>
          <a:p>
            <a:pPr>
              <a:defRPr sz="1650" b="0">
                <a:solidFill>
                  <a:srgbClr val="000000"/>
                </a:solidFill>
                <a:latin typeface="Arial"/>
                <a:ea typeface="Arial"/>
                <a:cs typeface="Arial"/>
              </a:defRPr>
            </a:pPr>
            <a:r>
              <a:rPr sz="1650" b="0">
                <a:solidFill>
                  <a:srgbClr val="000000"/>
                </a:solidFill>
                <a:latin typeface="Arial"/>
                <a:ea typeface="Arial"/>
                <a:cs typeface="Arial"/>
              </a:rPr>
              <a:t>3.3 V logic</a:t>
            </a:r>
          </a:p>
        </p:txBody>
      </p:sp>
      <p:sp>
        <p:nvSpPr>
          <p:cNvPr id="10" name="SPI label">
            <a:extLst>
              <a:ext uri="{FF2B5EF4-FFF2-40B4-BE49-F238E27FC236}">
                <a16:creationId xmlns:a16="http://schemas.microsoft.com/office/drawing/2014/main" id="{62E14142-8987-449A-8AE9-83809D87E22B}"/>
              </a:ext>
            </a:extLst>
          </p:cNvPr>
          <p:cNvSpPr>
            <a:spLocks noGrp="1"/>
          </p:cNvSpPr>
          <p:nvPr/>
        </p:nvSpPr>
        <p:spPr>
          <a:xfrm>
            <a:off x="7734300" y="2266950"/>
            <a:ext cx="1209675" cy="552450"/>
          </a:xfrm>
          <a:prstGeom prst="rect">
            <a:avLst/>
          </a:prstGeom>
          <a:noFill/>
          <a:ln w="0">
            <a:noFill/>
          </a:ln>
        </p:spPr>
        <p:txBody>
          <a:bodyPr lIns="0" tIns="0" rIns="0" bIns="0" anchor="t">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SPI + GPIO</a:t>
            </a:r>
          </a:p>
          <a:p>
            <a:pPr>
              <a:defRPr sz="1650" b="0">
                <a:solidFill>
                  <a:srgbClr val="000000"/>
                </a:solidFill>
                <a:latin typeface="Arial"/>
                <a:ea typeface="Arial"/>
                <a:cs typeface="Arial"/>
              </a:defRPr>
            </a:pPr>
            <a:r>
              <a:rPr sz="1650" b="0">
                <a:solidFill>
                  <a:srgbClr val="000000"/>
                </a:solidFill>
                <a:latin typeface="Arial"/>
                <a:ea typeface="Arial"/>
                <a:cs typeface="Arial"/>
              </a:rPr>
              <a:t>3.3 V logic</a:t>
            </a:r>
          </a:p>
        </p:txBody>
      </p:sp>
      <p:sp>
        <p:nvSpPr>
          <p:cNvPr id="11" name="Onboard storage">
            <a:extLst>
              <a:ext uri="{FF2B5EF4-FFF2-40B4-BE49-F238E27FC236}">
                <a16:creationId xmlns:a16="http://schemas.microsoft.com/office/drawing/2014/main" id="{0129E9B8-894E-4917-A851-622CB63AEC5F}"/>
              </a:ext>
            </a:extLst>
          </p:cNvPr>
          <p:cNvSpPr>
            <a:spLocks noGrp="1"/>
          </p:cNvSpPr>
          <p:nvPr/>
        </p:nvSpPr>
        <p:spPr>
          <a:xfrm>
            <a:off x="4438650" y="4295775"/>
            <a:ext cx="3238500" cy="9810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Existing microSD</a:t>
            </a:r>
          </a:p>
          <a:p>
            <a:pPr algn="ctr">
              <a:defRPr sz="2000">
                <a:solidFill>
                  <a:srgbClr val="000000"/>
                </a:solidFill>
                <a:latin typeface="Arial"/>
                <a:ea typeface="Arial"/>
                <a:cs typeface="Arial"/>
              </a:defRPr>
            </a:pPr>
            <a:r>
              <a:rPr sz="2000">
                <a:solidFill>
                  <a:srgbClr val="000000"/>
                </a:solidFill>
                <a:latin typeface="Arial"/>
                <a:ea typeface="Arial"/>
                <a:cs typeface="Arial"/>
              </a:rPr>
              <a:t>Roster + CSV event/results files</a:t>
            </a:r>
          </a:p>
        </p:txBody>
      </p:sp>
      <p:sp>
        <p:nvSpPr>
          <p:cNvPr id="13" name="Storage label">
            <a:extLst>
              <a:ext uri="{FF2B5EF4-FFF2-40B4-BE49-F238E27FC236}">
                <a16:creationId xmlns:a16="http://schemas.microsoft.com/office/drawing/2014/main" id="{449D5F01-CD89-4CC1-A3BF-04736DEFDC79}"/>
              </a:ext>
            </a:extLst>
          </p:cNvPr>
          <p:cNvSpPr>
            <a:spLocks noGrp="1"/>
          </p:cNvSpPr>
          <p:nvPr/>
        </p:nvSpPr>
        <p:spPr>
          <a:xfrm>
            <a:off x="6248400" y="3800475"/>
            <a:ext cx="2171700" cy="333375"/>
          </a:xfrm>
          <a:prstGeom prst="rect">
            <a:avLst/>
          </a:prstGeom>
          <a:noFill/>
          <a:ln w="0">
            <a:noFill/>
          </a:ln>
        </p:spPr>
        <p:txBody>
          <a:bodyPr lIns="0" tIns="0" rIns="0" bIns="0" anchor="t">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Onboard file I/O</a:t>
            </a:r>
          </a:p>
        </p:txBody>
      </p:sp>
      <p:sp>
        <p:nvSpPr>
          <p:cNvPr id="14" name="Setup and transitions">
            <a:extLst>
              <a:ext uri="{FF2B5EF4-FFF2-40B4-BE49-F238E27FC236}">
                <a16:creationId xmlns:a16="http://schemas.microsoft.com/office/drawing/2014/main" id="{91E9569E-3EEE-4FCD-BC02-78657E89CF62}"/>
              </a:ext>
            </a:extLst>
          </p:cNvPr>
          <p:cNvSpPr>
            <a:spLocks noGrp="1"/>
          </p:cNvSpPr>
          <p:nvPr/>
        </p:nvSpPr>
        <p:spPr>
          <a:xfrm>
            <a:off x="609600" y="5467350"/>
            <a:ext cx="10972800" cy="590550"/>
          </a:xfrm>
          <a:prstGeom prst="rect">
            <a:avLst/>
          </a:prstGeom>
          <a:noFill/>
          <a:ln w="0">
            <a:noFill/>
          </a:ln>
        </p:spPr>
        <p:txBody>
          <a:bodyPr lIns="0" tIns="0" rIns="0" bIns="0" anchor="t">
            <a:noAutofit/>
          </a:bodyPr>
          <a:lstStyle/>
          <a:p>
            <a:pPr>
              <a:defRPr sz="1800" b="0">
                <a:solidFill>
                  <a:srgbClr val="000000"/>
                </a:solidFill>
                <a:latin typeface="Arial"/>
                <a:ea typeface="Arial"/>
                <a:cs typeface="Arial"/>
              </a:defRPr>
            </a:pPr>
            <a:r>
              <a:rPr sz="1800" b="0" dirty="0">
                <a:solidFill>
                  <a:srgbClr val="000000"/>
                </a:solidFill>
                <a:latin typeface="Arial"/>
                <a:ea typeface="Arial"/>
                <a:cs typeface="Arial"/>
              </a:rPr>
              <a:t>Load the roster by USB before racing. The console then runs independently.</a:t>
            </a:r>
          </a:p>
          <a:p>
            <a:pPr>
              <a:defRPr sz="1800" b="0">
                <a:solidFill>
                  <a:srgbClr val="000000"/>
                </a:solidFill>
                <a:latin typeface="Arial"/>
                <a:ea typeface="Arial"/>
                <a:cs typeface="Arial"/>
              </a:defRPr>
            </a:pPr>
            <a:r>
              <a:rPr lang="en-US" sz="1800" b="1" dirty="0">
                <a:solidFill>
                  <a:srgbClr val="000000"/>
                </a:solidFill>
                <a:latin typeface="Arial"/>
                <a:ea typeface="Arial"/>
                <a:cs typeface="Arial"/>
              </a:rPr>
              <a:t>Start</a:t>
            </a:r>
            <a:r>
              <a:rPr lang="en-US" sz="1800" b="0" dirty="0">
                <a:solidFill>
                  <a:srgbClr val="000000"/>
                </a:solidFill>
                <a:latin typeface="Arial"/>
                <a:ea typeface="Arial"/>
                <a:cs typeface="Arial"/>
              </a:rPr>
              <a:t> begins </a:t>
            </a:r>
            <a:r>
              <a:rPr lang="en-US" dirty="0">
                <a:solidFill>
                  <a:srgbClr val="000000"/>
                </a:solidFill>
                <a:latin typeface="Arial"/>
                <a:ea typeface="Arial"/>
                <a:cs typeface="Arial"/>
              </a:rPr>
              <a:t>race. </a:t>
            </a:r>
            <a:r>
              <a:rPr sz="1800" b="1" dirty="0">
                <a:solidFill>
                  <a:srgbClr val="000000"/>
                </a:solidFill>
                <a:latin typeface="Arial"/>
                <a:ea typeface="Arial"/>
                <a:cs typeface="Arial"/>
              </a:rPr>
              <a:t>Final lap </a:t>
            </a:r>
            <a:r>
              <a:rPr sz="1800" b="0" dirty="0">
                <a:solidFill>
                  <a:srgbClr val="000000"/>
                </a:solidFill>
                <a:latin typeface="Arial"/>
                <a:ea typeface="Arial"/>
                <a:cs typeface="Arial"/>
              </a:rPr>
              <a:t>starts pit timing</a:t>
            </a:r>
            <a:r>
              <a:rPr lang="en-US" sz="1800" b="0" dirty="0">
                <a:solidFill>
                  <a:srgbClr val="000000"/>
                </a:solidFill>
                <a:latin typeface="Arial"/>
                <a:ea typeface="Arial"/>
                <a:cs typeface="Arial"/>
              </a:rPr>
              <a:t> automatically</a:t>
            </a:r>
            <a:r>
              <a:rPr sz="1800" b="0" dirty="0">
                <a:solidFill>
                  <a:srgbClr val="000000"/>
                </a:solidFill>
                <a:latin typeface="Arial"/>
                <a:ea typeface="Arial"/>
                <a:cs typeface="Arial"/>
              </a:rPr>
              <a:t>. </a:t>
            </a:r>
            <a:r>
              <a:rPr sz="1800" b="1" dirty="0">
                <a:solidFill>
                  <a:srgbClr val="000000"/>
                </a:solidFill>
                <a:latin typeface="Arial"/>
                <a:ea typeface="Arial"/>
                <a:cs typeface="Arial"/>
              </a:rPr>
              <a:t>RIDER OUT </a:t>
            </a:r>
            <a:r>
              <a:rPr sz="1800" b="0" dirty="0">
                <a:solidFill>
                  <a:srgbClr val="000000"/>
                </a:solidFill>
                <a:latin typeface="Arial"/>
                <a:ea typeface="Arial"/>
                <a:cs typeface="Arial"/>
              </a:rPr>
              <a:t>starts the next rider.</a:t>
            </a:r>
          </a:p>
        </p:txBody>
      </p:sp>
    </p:spTree>
    <p:extLst>
      <p:ext uri="{BB962C8B-B14F-4D97-AF65-F5344CB8AC3E}">
        <p14:creationId xmlns:p14="http://schemas.microsoft.com/office/powerpoint/2010/main" val="1678180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p:cNvCxnSpPr>
            <a:stCxn id="4" idx="2"/>
            <a:endCxn id="10" idx="0"/>
          </p:cNvCxnSpPr>
          <p:nvPr/>
        </p:nvCxnSpPr>
        <p:spPr>
          <a:xfrm>
            <a:off x="3024188" y="4238625"/>
            <a:ext cx="0" cy="457200"/>
          </a:xfrm>
          <a:prstGeom prst="straightConnector1">
            <a:avLst/>
          </a:prstGeom>
          <a:ln w="19050">
            <a:solidFill>
              <a:srgbClr val="276F8B"/>
            </a:solidFill>
            <a:tailEnd type="triangle" w="sm" len="sm"/>
          </a:ln>
        </p:spPr>
      </p:cxnSp>
      <p:cxnSp>
        <p:nvCxnSpPr>
          <p:cNvPr id="16" name="Connector: Elbow 15"/>
          <p:cNvCxnSpPr>
            <a:stCxn id="3" idx="3"/>
            <a:endCxn id="5" idx="0"/>
          </p:cNvCxnSpPr>
          <p:nvPr/>
        </p:nvCxnSpPr>
        <p:spPr>
          <a:xfrm>
            <a:off x="7915275" y="1814513"/>
            <a:ext cx="1433513" cy="1290638"/>
          </a:xfrm>
          <a:prstGeom prst="bentConnector2">
            <a:avLst/>
          </a:prstGeom>
          <a:ln w="19050">
            <a:solidFill>
              <a:srgbClr val="276F8B"/>
            </a:solidFill>
            <a:tailEnd type="triangle" w="sm" len="sm"/>
          </a:ln>
        </p:spPr>
      </p:cxnSp>
      <p:cxnSp>
        <p:nvCxnSpPr>
          <p:cNvPr id="17" name="Connector: Elbow 16"/>
          <p:cNvCxnSpPr>
            <a:stCxn id="3" idx="1"/>
            <a:endCxn id="4" idx="0"/>
          </p:cNvCxnSpPr>
          <p:nvPr/>
        </p:nvCxnSpPr>
        <p:spPr>
          <a:xfrm flipH="1">
            <a:off x="3024188" y="1814513"/>
            <a:ext cx="1290638" cy="1290638"/>
          </a:xfrm>
          <a:prstGeom prst="bentConnector2">
            <a:avLst/>
          </a:prstGeom>
          <a:ln w="19050">
            <a:solidFill>
              <a:srgbClr val="276F8B"/>
            </a:solidFill>
            <a:tailEnd type="triangle" w="sm" len="sm"/>
          </a:ln>
        </p:spPr>
      </p:cxnSp>
      <p:sp>
        <p:nvSpPr>
          <p:cNvPr id="2" name="Title 1">
            <a:extLst>
              <a:ext uri="{FF2B5EF4-FFF2-40B4-BE49-F238E27FC236}">
                <a16:creationId xmlns:a16="http://schemas.microsoft.com/office/drawing/2014/main" id="{562DFEA3-93A8-4943-9F3A-4798FB13F643}"/>
              </a:ext>
            </a:extLst>
          </p:cNvPr>
          <p:cNvSpPr>
            <a:spLocks noGrp="1"/>
          </p:cNvSpPr>
          <p:nvPr>
            <p:ph type="title"/>
          </p:nvPr>
        </p:nvSpPr>
        <p:spPr/>
        <p:txBody>
          <a:bodyPr/>
          <a:lstStyle/>
          <a:p>
            <a:r>
              <a:t>Power Block Diagram</a:t>
            </a:r>
          </a:p>
        </p:txBody>
      </p:sp>
      <p:sp>
        <p:nvSpPr>
          <p:cNvPr id="3" name="Five volt source">
            <a:extLst>
              <a:ext uri="{FF2B5EF4-FFF2-40B4-BE49-F238E27FC236}">
                <a16:creationId xmlns:a16="http://schemas.microsoft.com/office/drawing/2014/main" id="{D516E2ED-FACF-42B6-A660-D33DC70EA931}"/>
              </a:ext>
            </a:extLst>
          </p:cNvPr>
          <p:cNvSpPr>
            <a:spLocks noGrp="1"/>
          </p:cNvSpPr>
          <p:nvPr/>
        </p:nvSpPr>
        <p:spPr>
          <a:xfrm>
            <a:off x="4314825" y="1362075"/>
            <a:ext cx="3600450" cy="9048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Regulated adapter, set to 5 V</a:t>
            </a:r>
          </a:p>
          <a:p>
            <a:pPr algn="ctr">
              <a:defRPr sz="2000">
                <a:solidFill>
                  <a:srgbClr val="000000"/>
                </a:solidFill>
                <a:latin typeface="Arial"/>
                <a:ea typeface="Arial"/>
                <a:cs typeface="Arial"/>
              </a:defRPr>
            </a:pPr>
            <a:r>
              <a:rPr sz="2000">
                <a:solidFill>
                  <a:srgbClr val="000000"/>
                </a:solidFill>
                <a:latin typeface="Arial"/>
                <a:ea typeface="Arial"/>
                <a:cs typeface="Arial"/>
              </a:rPr>
              <a:t>2 A source capacity</a:t>
            </a:r>
          </a:p>
        </p:txBody>
      </p:sp>
      <p:sp>
        <p:nvSpPr>
          <p:cNvPr id="4" name="PocketBeagle power">
            <a:extLst>
              <a:ext uri="{FF2B5EF4-FFF2-40B4-BE49-F238E27FC236}">
                <a16:creationId xmlns:a16="http://schemas.microsoft.com/office/drawing/2014/main" id="{313ED3C2-D5C3-4A9C-9659-6BF9577436E7}"/>
              </a:ext>
            </a:extLst>
          </p:cNvPr>
          <p:cNvSpPr>
            <a:spLocks noGrp="1"/>
          </p:cNvSpPr>
          <p:nvPr/>
        </p:nvSpPr>
        <p:spPr>
          <a:xfrm>
            <a:off x="1104900" y="3105150"/>
            <a:ext cx="3838575" cy="11334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dirty="0" err="1">
                <a:solidFill>
                  <a:srgbClr val="000000"/>
                </a:solidFill>
                <a:latin typeface="Arial"/>
                <a:ea typeface="Arial"/>
                <a:cs typeface="Arial"/>
              </a:rPr>
              <a:t>PocketBeagle</a:t>
            </a:r>
            <a:r>
              <a:rPr sz="2000" dirty="0">
                <a:solidFill>
                  <a:srgbClr val="000000"/>
                </a:solidFill>
                <a:latin typeface="Arial"/>
                <a:ea typeface="Arial"/>
                <a:cs typeface="Arial"/>
              </a:rPr>
              <a:t> + microSD</a:t>
            </a:r>
          </a:p>
          <a:p>
            <a:pPr algn="ctr">
              <a:defRPr sz="2000">
                <a:solidFill>
                  <a:srgbClr val="000000"/>
                </a:solidFill>
                <a:latin typeface="Arial"/>
                <a:ea typeface="Arial"/>
                <a:cs typeface="Arial"/>
              </a:defRPr>
            </a:pPr>
            <a:r>
              <a:rPr sz="2000" dirty="0">
                <a:solidFill>
                  <a:srgbClr val="000000"/>
                </a:solidFill>
                <a:latin typeface="Arial"/>
                <a:ea typeface="Arial"/>
                <a:cs typeface="Arial"/>
              </a:rPr>
              <a:t>5 V input</a:t>
            </a:r>
          </a:p>
          <a:p>
            <a:pPr algn="ctr">
              <a:defRPr sz="2000">
                <a:solidFill>
                  <a:srgbClr val="000000"/>
                </a:solidFill>
                <a:latin typeface="Arial"/>
                <a:ea typeface="Arial"/>
                <a:cs typeface="Arial"/>
              </a:defRPr>
            </a:pPr>
            <a:r>
              <a:rPr sz="2000" dirty="0">
                <a:solidFill>
                  <a:srgbClr val="000000"/>
                </a:solidFill>
                <a:latin typeface="Arial"/>
                <a:ea typeface="Arial"/>
                <a:cs typeface="Arial"/>
              </a:rPr>
              <a:t>0.50 A planning allowance*</a:t>
            </a:r>
          </a:p>
        </p:txBody>
      </p:sp>
      <p:sp>
        <p:nvSpPr>
          <p:cNvPr id="5" name="Display power">
            <a:extLst>
              <a:ext uri="{FF2B5EF4-FFF2-40B4-BE49-F238E27FC236}">
                <a16:creationId xmlns:a16="http://schemas.microsoft.com/office/drawing/2014/main" id="{D3B6E4FB-85DA-4536-A650-B78C37B60E12}"/>
              </a:ext>
            </a:extLst>
          </p:cNvPr>
          <p:cNvSpPr>
            <a:spLocks noGrp="1"/>
          </p:cNvSpPr>
          <p:nvPr/>
        </p:nvSpPr>
        <p:spPr>
          <a:xfrm>
            <a:off x="7429500" y="3105150"/>
            <a:ext cx="3838575" cy="1133475"/>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TFT display + backlight</a:t>
            </a:r>
          </a:p>
          <a:p>
            <a:pPr algn="ctr">
              <a:defRPr sz="2000">
                <a:solidFill>
                  <a:srgbClr val="000000"/>
                </a:solidFill>
                <a:latin typeface="Arial"/>
                <a:ea typeface="Arial"/>
                <a:cs typeface="Arial"/>
              </a:defRPr>
            </a:pPr>
            <a:r>
              <a:rPr sz="2000">
                <a:solidFill>
                  <a:srgbClr val="000000"/>
                </a:solidFill>
                <a:latin typeface="Arial"/>
                <a:ea typeface="Arial"/>
                <a:cs typeface="Arial"/>
              </a:rPr>
              <a:t>5 V input</a:t>
            </a:r>
          </a:p>
          <a:p>
            <a:pPr algn="ctr">
              <a:defRPr sz="2000">
                <a:solidFill>
                  <a:srgbClr val="000000"/>
                </a:solidFill>
                <a:latin typeface="Arial"/>
                <a:ea typeface="Arial"/>
                <a:cs typeface="Arial"/>
              </a:defRPr>
            </a:pPr>
            <a:r>
              <a:rPr sz="2000">
                <a:solidFill>
                  <a:srgbClr val="000000"/>
                </a:solidFill>
                <a:latin typeface="Arial"/>
                <a:ea typeface="Arial"/>
                <a:cs typeface="Arial"/>
              </a:rPr>
              <a:t>0.15 A planning allowance*</a:t>
            </a:r>
          </a:p>
        </p:txBody>
      </p:sp>
      <p:sp>
        <p:nvSpPr>
          <p:cNvPr id="8" name="Left power rail">
            <a:extLst>
              <a:ext uri="{FF2B5EF4-FFF2-40B4-BE49-F238E27FC236}">
                <a16:creationId xmlns:a16="http://schemas.microsoft.com/office/drawing/2014/main" id="{227F3F76-95F9-445C-86CC-6D6090EA64EB}"/>
              </a:ext>
            </a:extLst>
          </p:cNvPr>
          <p:cNvSpPr>
            <a:spLocks noGrp="1"/>
          </p:cNvSpPr>
          <p:nvPr/>
        </p:nvSpPr>
        <p:spPr>
          <a:xfrm>
            <a:off x="1990725" y="2571750"/>
            <a:ext cx="857250" cy="333375"/>
          </a:xfrm>
          <a:prstGeom prst="rect">
            <a:avLst/>
          </a:prstGeom>
          <a:noFill/>
          <a:ln w="0">
            <a:noFill/>
          </a:ln>
        </p:spPr>
        <p:txBody>
          <a:bodyPr lIns="0" tIns="0" rIns="0" bIns="0" anchor="t">
            <a:noAutofit/>
          </a:bodyPr>
          <a:lstStyle/>
          <a:p>
            <a:pPr>
              <a:defRPr sz="1800" b="0">
                <a:solidFill>
                  <a:srgbClr val="000000"/>
                </a:solidFill>
                <a:latin typeface="Arial"/>
                <a:ea typeface="Arial"/>
                <a:cs typeface="Arial"/>
              </a:defRPr>
            </a:pPr>
            <a:r>
              <a:rPr sz="1800" b="0">
                <a:solidFill>
                  <a:srgbClr val="000000"/>
                </a:solidFill>
                <a:latin typeface="Arial"/>
                <a:ea typeface="Arial"/>
                <a:cs typeface="Arial"/>
              </a:rPr>
              <a:t>5 V</a:t>
            </a:r>
          </a:p>
        </p:txBody>
      </p:sp>
      <p:sp>
        <p:nvSpPr>
          <p:cNvPr id="9" name="Right power rail">
            <a:extLst>
              <a:ext uri="{FF2B5EF4-FFF2-40B4-BE49-F238E27FC236}">
                <a16:creationId xmlns:a16="http://schemas.microsoft.com/office/drawing/2014/main" id="{1AA61265-244D-416D-8E9C-5685E30A6A7D}"/>
              </a:ext>
            </a:extLst>
          </p:cNvPr>
          <p:cNvSpPr>
            <a:spLocks noGrp="1"/>
          </p:cNvSpPr>
          <p:nvPr/>
        </p:nvSpPr>
        <p:spPr>
          <a:xfrm>
            <a:off x="9601200" y="2571750"/>
            <a:ext cx="857250" cy="333375"/>
          </a:xfrm>
          <a:prstGeom prst="rect">
            <a:avLst/>
          </a:prstGeom>
          <a:noFill/>
          <a:ln w="0">
            <a:noFill/>
          </a:ln>
        </p:spPr>
        <p:txBody>
          <a:bodyPr lIns="0" tIns="0" rIns="0" bIns="0" anchor="t">
            <a:noAutofit/>
          </a:bodyPr>
          <a:lstStyle/>
          <a:p>
            <a:pPr>
              <a:defRPr sz="1800" b="0">
                <a:solidFill>
                  <a:srgbClr val="000000"/>
                </a:solidFill>
                <a:latin typeface="Arial"/>
                <a:ea typeface="Arial"/>
                <a:cs typeface="Arial"/>
              </a:defRPr>
            </a:pPr>
            <a:r>
              <a:rPr sz="1800" b="0">
                <a:solidFill>
                  <a:srgbClr val="000000"/>
                </a:solidFill>
                <a:latin typeface="Arial"/>
                <a:ea typeface="Arial"/>
                <a:cs typeface="Arial"/>
              </a:rPr>
              <a:t>5 V</a:t>
            </a:r>
          </a:p>
        </p:txBody>
      </p:sp>
      <p:sp>
        <p:nvSpPr>
          <p:cNvPr id="10" name="Switch input power">
            <a:extLst>
              <a:ext uri="{FF2B5EF4-FFF2-40B4-BE49-F238E27FC236}">
                <a16:creationId xmlns:a16="http://schemas.microsoft.com/office/drawing/2014/main" id="{3B5A5A7E-A4BD-4E65-BF5B-61A2153CD7A2}"/>
              </a:ext>
            </a:extLst>
          </p:cNvPr>
          <p:cNvSpPr>
            <a:spLocks noGrp="1"/>
          </p:cNvSpPr>
          <p:nvPr/>
        </p:nvSpPr>
        <p:spPr>
          <a:xfrm>
            <a:off x="1104900" y="4695825"/>
            <a:ext cx="3838575" cy="781050"/>
          </a:xfrm>
          <a:prstGeom prst="rect">
            <a:avLst/>
          </a:prstGeom>
          <a:solidFill>
            <a:srgbClr val="F0F6F9"/>
          </a:solidFill>
          <a:ln w="14288">
            <a:solidFill>
              <a:srgbClr val="3494BA"/>
            </a:solidFill>
          </a:ln>
        </p:spPr>
        <p:txBody>
          <a:bodyPr lIns="95250" tIns="76200" rIns="95250" bIns="76200" anchor="ctr">
            <a:noAutofit/>
          </a:bodyPr>
          <a:lstStyle/>
          <a:p>
            <a:pPr algn="ctr">
              <a:defRPr sz="2000">
                <a:solidFill>
                  <a:srgbClr val="000000"/>
                </a:solidFill>
                <a:latin typeface="Arial"/>
                <a:ea typeface="Arial"/>
                <a:cs typeface="Arial"/>
              </a:defRPr>
            </a:pPr>
            <a:r>
              <a:rPr sz="2000">
                <a:solidFill>
                  <a:srgbClr val="000000"/>
                </a:solidFill>
                <a:latin typeface="Arial"/>
                <a:ea typeface="Arial"/>
                <a:cs typeface="Arial"/>
              </a:rPr>
              <a:t>4 switches + 10 kOhm pull-ups</a:t>
            </a:r>
          </a:p>
          <a:p>
            <a:pPr algn="ctr">
              <a:defRPr sz="2000">
                <a:solidFill>
                  <a:srgbClr val="000000"/>
                </a:solidFill>
                <a:latin typeface="Arial"/>
                <a:ea typeface="Arial"/>
                <a:cs typeface="Arial"/>
              </a:defRPr>
            </a:pPr>
            <a:r>
              <a:rPr sz="2000">
                <a:solidFill>
                  <a:srgbClr val="000000"/>
                </a:solidFill>
                <a:latin typeface="Arial"/>
                <a:ea typeface="Arial"/>
                <a:cs typeface="Arial"/>
              </a:rPr>
              <a:t>3.3 V, up to 1.32 mA</a:t>
            </a:r>
          </a:p>
        </p:txBody>
      </p:sp>
      <p:sp>
        <p:nvSpPr>
          <p:cNvPr id="12" name="Regulated button rail">
            <a:extLst>
              <a:ext uri="{FF2B5EF4-FFF2-40B4-BE49-F238E27FC236}">
                <a16:creationId xmlns:a16="http://schemas.microsoft.com/office/drawing/2014/main" id="{5CA43A52-7147-41CC-AB27-2693F8624E25}"/>
              </a:ext>
            </a:extLst>
          </p:cNvPr>
          <p:cNvSpPr>
            <a:spLocks noGrp="1"/>
          </p:cNvSpPr>
          <p:nvPr/>
        </p:nvSpPr>
        <p:spPr>
          <a:xfrm>
            <a:off x="3228975" y="4343400"/>
            <a:ext cx="3228975" cy="323850"/>
          </a:xfrm>
          <a:prstGeom prst="rect">
            <a:avLst/>
          </a:prstGeom>
          <a:noFill/>
          <a:ln w="0">
            <a:noFill/>
          </a:ln>
        </p:spPr>
        <p:txBody>
          <a:bodyPr lIns="0" tIns="0" rIns="0" bIns="0" anchor="t">
            <a:noAutofit/>
          </a:bodyPr>
          <a:lstStyle/>
          <a:p>
            <a:pPr>
              <a:defRPr sz="1800" b="0">
                <a:solidFill>
                  <a:srgbClr val="000000"/>
                </a:solidFill>
                <a:latin typeface="Arial"/>
                <a:ea typeface="Arial"/>
                <a:cs typeface="Arial"/>
              </a:defRPr>
            </a:pPr>
            <a:r>
              <a:rPr sz="1800" b="0">
                <a:solidFill>
                  <a:srgbClr val="000000"/>
                </a:solidFill>
                <a:latin typeface="Arial"/>
                <a:ea typeface="Arial"/>
                <a:cs typeface="Arial"/>
              </a:rPr>
              <a:t>Board-regulated 3.3 V</a:t>
            </a:r>
          </a:p>
        </p:txBody>
      </p:sp>
      <p:sp>
        <p:nvSpPr>
          <p:cNvPr id="13" name="Common ground note">
            <a:extLst>
              <a:ext uri="{FF2B5EF4-FFF2-40B4-BE49-F238E27FC236}">
                <a16:creationId xmlns:a16="http://schemas.microsoft.com/office/drawing/2014/main" id="{085376DE-85FE-48E6-BF23-46672D9314D2}"/>
              </a:ext>
            </a:extLst>
          </p:cNvPr>
          <p:cNvSpPr>
            <a:spLocks noGrp="1"/>
          </p:cNvSpPr>
          <p:nvPr/>
        </p:nvSpPr>
        <p:spPr>
          <a:xfrm>
            <a:off x="7429500" y="4705350"/>
            <a:ext cx="3838575" cy="781050"/>
          </a:xfrm>
          <a:prstGeom prst="rect">
            <a:avLst/>
          </a:prstGeom>
          <a:noFill/>
          <a:ln w="0">
            <a:noFill/>
          </a:ln>
        </p:spPr>
        <p:txBody>
          <a:bodyPr lIns="0" tIns="0" rIns="0" bIns="0" anchor="t">
            <a:noAutofit/>
          </a:bodyPr>
          <a:lstStyle/>
          <a:p>
            <a:pPr>
              <a:defRPr sz="1800" b="0">
                <a:solidFill>
                  <a:srgbClr val="000000"/>
                </a:solidFill>
                <a:latin typeface="Arial"/>
                <a:ea typeface="Arial"/>
                <a:cs typeface="Arial"/>
              </a:defRPr>
            </a:pPr>
            <a:r>
              <a:rPr sz="1800" b="0">
                <a:solidFill>
                  <a:srgbClr val="000000"/>
                </a:solidFill>
                <a:latin typeface="Arial"/>
                <a:ea typeface="Arial"/>
                <a:cs typeface="Arial"/>
              </a:rPr>
              <a:t>Common ground throughout.</a:t>
            </a:r>
          </a:p>
          <a:p>
            <a:pPr>
              <a:defRPr sz="1800" b="0">
                <a:solidFill>
                  <a:srgbClr val="000000"/>
                </a:solidFill>
                <a:latin typeface="Arial"/>
                <a:ea typeface="Arial"/>
                <a:cs typeface="Arial"/>
              </a:defRPr>
            </a:pPr>
            <a:r>
              <a:rPr sz="1800" b="0">
                <a:solidFill>
                  <a:srgbClr val="000000"/>
                </a:solidFill>
                <a:latin typeface="Arial"/>
                <a:ea typeface="Arial"/>
                <a:cs typeface="Arial"/>
              </a:rPr>
              <a:t>GPIO and SPI signals use 3.3 V logic.</a:t>
            </a:r>
          </a:p>
        </p:txBody>
      </p:sp>
      <p:sp>
        <p:nvSpPr>
          <p:cNvPr id="14" name="Current assumptions">
            <a:extLst>
              <a:ext uri="{FF2B5EF4-FFF2-40B4-BE49-F238E27FC236}">
                <a16:creationId xmlns:a16="http://schemas.microsoft.com/office/drawing/2014/main" id="{8142967F-1DBF-450E-9322-2CFB7800A200}"/>
              </a:ext>
            </a:extLst>
          </p:cNvPr>
          <p:cNvSpPr>
            <a:spLocks noGrp="1"/>
          </p:cNvSpPr>
          <p:nvPr/>
        </p:nvSpPr>
        <p:spPr>
          <a:xfrm>
            <a:off x="609600" y="5619750"/>
            <a:ext cx="10972800" cy="504825"/>
          </a:xfrm>
          <a:prstGeom prst="rect">
            <a:avLst/>
          </a:prstGeom>
          <a:noFill/>
          <a:ln w="0">
            <a:noFill/>
          </a:ln>
        </p:spPr>
        <p:txBody>
          <a:bodyPr lIns="0" tIns="0" rIns="0" bIns="0" anchor="t">
            <a:noAutofit/>
          </a:bodyPr>
          <a:lstStyle/>
          <a:p>
            <a:pPr>
              <a:defRPr sz="1650" b="0">
                <a:solidFill>
                  <a:srgbClr val="000000"/>
                </a:solidFill>
                <a:latin typeface="Arial"/>
                <a:ea typeface="Arial"/>
                <a:cs typeface="Arial"/>
              </a:defRPr>
            </a:pPr>
            <a:endParaRPr sz="1650" b="0" dirty="0">
              <a:solidFill>
                <a:srgbClr val="000000"/>
              </a:solidFill>
              <a:latin typeface="Arial"/>
              <a:ea typeface="Arial"/>
              <a:cs typeface="Arial"/>
            </a:endParaRPr>
          </a:p>
        </p:txBody>
      </p:sp>
    </p:spTree>
    <p:extLst>
      <p:ext uri="{BB962C8B-B14F-4D97-AF65-F5344CB8AC3E}">
        <p14:creationId xmlns:p14="http://schemas.microsoft.com/office/powerpoint/2010/main" val="213774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1467B-51C2-4E0B-B52A-83BD9F0EB83D}"/>
              </a:ext>
            </a:extLst>
          </p:cNvPr>
          <p:cNvSpPr>
            <a:spLocks noGrp="1"/>
          </p:cNvSpPr>
          <p:nvPr>
            <p:ph type="title"/>
          </p:nvPr>
        </p:nvSpPr>
        <p:spPr/>
        <p:txBody>
          <a:bodyPr/>
          <a:lstStyle/>
          <a:p>
            <a:r>
              <a:t>Components / Budget</a:t>
            </a:r>
          </a:p>
        </p:txBody>
      </p:sp>
      <p:graphicFrame>
        <p:nvGraphicFramePr>
          <p:cNvPr id="8" name="Content Placeholder 3"/>
          <p:cNvGraphicFramePr/>
          <p:nvPr>
            <p:extLst>
              <p:ext uri="{D42A27DB-BD31-4B8C-83A1-F6EECF244321}">
                <p14:modId xmlns:p14="http://schemas.microsoft.com/office/powerpoint/2010/main" val="800743303"/>
              </p:ext>
            </p:extLst>
          </p:nvPr>
        </p:nvGraphicFramePr>
        <p:xfrm>
          <a:off x="609600" y="1295400"/>
          <a:ext cx="10972800" cy="3440430"/>
        </p:xfrm>
        <a:graphic>
          <a:graphicData uri="http://schemas.openxmlformats.org/drawingml/2006/table">
            <a:tbl>
              <a:tblPr firstRow="1" bandRow="1">
                <a:tableStyleId>{BC89EF96-8CEA-46FF-86C4-4CE0E7609802}</a:tableStyleId>
              </a:tblPr>
              <a:tblGrid>
                <a:gridCol w="7837714">
                  <a:extLst>
                    <a:ext uri="{9D8B030D-6E8A-4147-A177-3AD203B41FA5}">
                      <a16:colId xmlns:a16="http://schemas.microsoft.com/office/drawing/2014/main" val="20000"/>
                    </a:ext>
                  </a:extLst>
                </a:gridCol>
                <a:gridCol w="1567543">
                  <a:extLst>
                    <a:ext uri="{9D8B030D-6E8A-4147-A177-3AD203B41FA5}">
                      <a16:colId xmlns:a16="http://schemas.microsoft.com/office/drawing/2014/main" val="20001"/>
                    </a:ext>
                  </a:extLst>
                </a:gridCol>
                <a:gridCol w="1567543">
                  <a:extLst>
                    <a:ext uri="{9D8B030D-6E8A-4147-A177-3AD203B41FA5}">
                      <a16:colId xmlns:a16="http://schemas.microsoft.com/office/drawing/2014/main" val="20002"/>
                    </a:ext>
                  </a:extLst>
                </a:gridCol>
              </a:tblGrid>
              <a:tr h="619125">
                <a:tc>
                  <a:txBody>
                    <a:bodyPr/>
                    <a:lstStyle/>
                    <a:p>
                      <a:pPr algn="l"/>
                      <a:r>
                        <a:rPr sz="1800" b="1">
                          <a:solidFill>
                            <a:srgbClr val="000000"/>
                          </a:solidFill>
                          <a:latin typeface="Arial"/>
                          <a:ea typeface="Arial"/>
                          <a:cs typeface="Arial"/>
                        </a:rPr>
                        <a:t>Component</a:t>
                      </a:r>
                    </a:p>
                  </a:txBody>
                  <a:tcPr/>
                </a:tc>
                <a:tc>
                  <a:txBody>
                    <a:bodyPr/>
                    <a:lstStyle/>
                    <a:p>
                      <a:pPr algn="ctr">
                        <a:buNone/>
                      </a:pPr>
                      <a:r>
                        <a:rPr sz="1800" b="1">
                          <a:solidFill>
                            <a:srgbClr val="000000"/>
                          </a:solidFill>
                          <a:latin typeface="Arial"/>
                          <a:ea typeface="Arial"/>
                          <a:cs typeface="Arial"/>
                        </a:rPr>
                        <a:t>EDES301</a:t>
                      </a:r>
                    </a:p>
                    <a:p>
                      <a:pPr algn="ctr">
                        <a:buNone/>
                      </a:pPr>
                      <a:r>
                        <a:rPr sz="1800" b="1">
                          <a:solidFill>
                            <a:srgbClr val="000000"/>
                          </a:solidFill>
                          <a:latin typeface="Arial"/>
                          <a:ea typeface="Arial"/>
                          <a:cs typeface="Arial"/>
                        </a:rPr>
                        <a:t>to Buy?</a:t>
                      </a:r>
                    </a:p>
                  </a:txBody>
                  <a:tcPr/>
                </a:tc>
                <a:tc>
                  <a:txBody>
                    <a:bodyPr/>
                    <a:lstStyle/>
                    <a:p>
                      <a:pPr algn="ctr">
                        <a:buNone/>
                      </a:pPr>
                      <a:r>
                        <a:rPr sz="1800" b="1">
                          <a:solidFill>
                            <a:srgbClr val="000000"/>
                          </a:solidFill>
                          <a:latin typeface="Arial"/>
                          <a:ea typeface="Arial"/>
                          <a:cs typeface="Arial"/>
                        </a:rPr>
                        <a:t>Cost</a:t>
                      </a:r>
                    </a:p>
                  </a:txBody>
                  <a:tcPr/>
                </a:tc>
                <a:extLst>
                  <a:ext uri="{0D108BD9-81ED-4DB2-BD59-A6C34878D82A}">
                    <a16:rowId xmlns:a16="http://schemas.microsoft.com/office/drawing/2014/main" val="10000"/>
                  </a:ext>
                </a:extLst>
              </a:tr>
              <a:tr h="400050">
                <a:tc>
                  <a:txBody>
                    <a:bodyPr/>
                    <a:lstStyle/>
                    <a:p>
                      <a:pPr algn="l"/>
                      <a:r>
                        <a:rPr sz="1800" b="0" dirty="0" err="1">
                          <a:solidFill>
                            <a:srgbClr val="000000"/>
                          </a:solidFill>
                          <a:latin typeface="Arial"/>
                          <a:ea typeface="Arial"/>
                          <a:cs typeface="Arial"/>
                        </a:rPr>
                        <a:t>PocketBeagle</a:t>
                      </a:r>
                      <a:r>
                        <a:rPr sz="1800" b="0" dirty="0">
                          <a:solidFill>
                            <a:srgbClr val="000000"/>
                          </a:solidFill>
                          <a:latin typeface="Arial"/>
                          <a:ea typeface="Arial"/>
                          <a:cs typeface="Arial"/>
                        </a:rPr>
                        <a:t>, microSD and USB cable</a:t>
                      </a:r>
                      <a:endParaRPr dirty="0"/>
                    </a:p>
                  </a:txBody>
                  <a:tcPr/>
                </a:tc>
                <a:tc>
                  <a:txBody>
                    <a:bodyPr/>
                    <a:lstStyle/>
                    <a:p>
                      <a:pPr algn="ctr"/>
                      <a:r>
                        <a:rPr sz="1800" b="0">
                          <a:solidFill>
                            <a:srgbClr val="000000"/>
                          </a:solidFill>
                          <a:latin typeface="Arial"/>
                          <a:ea typeface="Arial"/>
                          <a:cs typeface="Arial"/>
                        </a:rPr>
                        <a:t>No</a:t>
                      </a:r>
                      <a:endParaRPr/>
                    </a:p>
                  </a:txBody>
                  <a:tcPr/>
                </a:tc>
                <a:tc>
                  <a:txBody>
                    <a:bodyPr/>
                    <a:lstStyle/>
                    <a:p>
                      <a:pPr algn="ctr"/>
                      <a:r>
                        <a:rPr sz="1800" b="0">
                          <a:solidFill>
                            <a:srgbClr val="000000"/>
                          </a:solidFill>
                          <a:latin typeface="Arial"/>
                          <a:ea typeface="Arial"/>
                          <a:cs typeface="Arial"/>
                        </a:rPr>
                        <a:t>$0 new</a:t>
                      </a:r>
                      <a:endParaRPr/>
                    </a:p>
                  </a:txBody>
                  <a:tcPr/>
                </a:tc>
                <a:extLst>
                  <a:ext uri="{0D108BD9-81ED-4DB2-BD59-A6C34878D82A}">
                    <a16:rowId xmlns:a16="http://schemas.microsoft.com/office/drawing/2014/main" val="10001"/>
                  </a:ext>
                </a:extLst>
              </a:tr>
              <a:tr h="400050">
                <a:tc>
                  <a:txBody>
                    <a:bodyPr/>
                    <a:lstStyle/>
                    <a:p>
                      <a:pPr algn="l"/>
                      <a:r>
                        <a:rPr sz="1800" b="0" dirty="0">
                          <a:solidFill>
                            <a:srgbClr val="000000"/>
                          </a:solidFill>
                          <a:latin typeface="Arial"/>
                          <a:ea typeface="Arial"/>
                          <a:cs typeface="Arial"/>
                        </a:rPr>
                        <a:t>2.8-inch SPI display, </a:t>
                      </a:r>
                      <a:r>
                        <a:rPr sz="1800" b="0" dirty="0">
                          <a:solidFill>
                            <a:srgbClr val="000000"/>
                          </a:solidFill>
                          <a:latin typeface="Arial"/>
                          <a:ea typeface="Arial"/>
                          <a:cs typeface="Arial"/>
                          <a:hlinkClick r:id="rId3"/>
                        </a:rPr>
                        <a:t>Adafruit 1770</a:t>
                      </a:r>
                      <a:endParaRPr dirty="0"/>
                    </a:p>
                  </a:txBody>
                  <a:tcPr/>
                </a:tc>
                <a:tc>
                  <a:txBody>
                    <a:bodyPr/>
                    <a:lstStyle/>
                    <a:p>
                      <a:pPr algn="ctr"/>
                      <a:r>
                        <a:rPr sz="1800" b="0">
                          <a:solidFill>
                            <a:srgbClr val="000000"/>
                          </a:solidFill>
                          <a:latin typeface="Arial"/>
                          <a:ea typeface="Arial"/>
                          <a:cs typeface="Arial"/>
                        </a:rPr>
                        <a:t>Yes</a:t>
                      </a:r>
                      <a:endParaRPr/>
                    </a:p>
                  </a:txBody>
                  <a:tcPr/>
                </a:tc>
                <a:tc>
                  <a:txBody>
                    <a:bodyPr/>
                    <a:lstStyle/>
                    <a:p>
                      <a:pPr algn="ctr"/>
                      <a:r>
                        <a:rPr sz="1800" b="0">
                          <a:solidFill>
                            <a:srgbClr val="000000"/>
                          </a:solidFill>
                          <a:latin typeface="Arial"/>
                          <a:ea typeface="Arial"/>
                          <a:cs typeface="Arial"/>
                        </a:rPr>
                        <a:t>$29.95</a:t>
                      </a:r>
                      <a:endParaRPr/>
                    </a:p>
                  </a:txBody>
                  <a:tcPr/>
                </a:tc>
                <a:extLst>
                  <a:ext uri="{0D108BD9-81ED-4DB2-BD59-A6C34878D82A}">
                    <a16:rowId xmlns:a16="http://schemas.microsoft.com/office/drawing/2014/main" val="10002"/>
                  </a:ext>
                </a:extLst>
              </a:tr>
              <a:tr h="400050">
                <a:tc>
                  <a:txBody>
                    <a:bodyPr/>
                    <a:lstStyle/>
                    <a:p>
                      <a:pPr algn="l"/>
                      <a:r>
                        <a:rPr sz="1800" b="0" dirty="0">
                          <a:solidFill>
                            <a:srgbClr val="000000"/>
                          </a:solidFill>
                          <a:latin typeface="Arial"/>
                          <a:ea typeface="Arial"/>
                          <a:cs typeface="Arial"/>
                        </a:rPr>
                        <a:t>30 mm timing buttons, </a:t>
                      </a:r>
                      <a:r>
                        <a:rPr sz="1800" b="0" dirty="0">
                          <a:solidFill>
                            <a:srgbClr val="000000"/>
                          </a:solidFill>
                          <a:latin typeface="Arial"/>
                          <a:ea typeface="Arial"/>
                          <a:cs typeface="Arial"/>
                          <a:hlinkClick r:id="rId4"/>
                        </a:rPr>
                        <a:t>Adafruit 471</a:t>
                      </a:r>
                      <a:r>
                        <a:rPr sz="1800" b="0" dirty="0">
                          <a:solidFill>
                            <a:srgbClr val="000000"/>
                          </a:solidFill>
                          <a:latin typeface="Arial"/>
                          <a:ea typeface="Arial"/>
                          <a:cs typeface="Arial"/>
                        </a:rPr>
                        <a:t> (2)</a:t>
                      </a:r>
                      <a:endParaRPr dirty="0"/>
                    </a:p>
                  </a:txBody>
                  <a:tcPr/>
                </a:tc>
                <a:tc>
                  <a:txBody>
                    <a:bodyPr/>
                    <a:lstStyle/>
                    <a:p>
                      <a:pPr algn="ctr"/>
                      <a:r>
                        <a:rPr sz="1800" b="0">
                          <a:solidFill>
                            <a:srgbClr val="000000"/>
                          </a:solidFill>
                          <a:latin typeface="Arial"/>
                          <a:ea typeface="Arial"/>
                          <a:cs typeface="Arial"/>
                        </a:rPr>
                        <a:t>No</a:t>
                      </a:r>
                      <a:endParaRPr/>
                    </a:p>
                  </a:txBody>
                  <a:tcPr/>
                </a:tc>
                <a:tc>
                  <a:txBody>
                    <a:bodyPr/>
                    <a:lstStyle/>
                    <a:p>
                      <a:pPr algn="ctr"/>
                      <a:r>
                        <a:rPr sz="1800" b="0">
                          <a:solidFill>
                            <a:srgbClr val="000000"/>
                          </a:solidFill>
                          <a:latin typeface="Arial"/>
                          <a:ea typeface="Arial"/>
                          <a:cs typeface="Arial"/>
                        </a:rPr>
                        <a:t>$11.90</a:t>
                      </a:r>
                      <a:endParaRPr/>
                    </a:p>
                  </a:txBody>
                  <a:tcPr/>
                </a:tc>
                <a:extLst>
                  <a:ext uri="{0D108BD9-81ED-4DB2-BD59-A6C34878D82A}">
                    <a16:rowId xmlns:a16="http://schemas.microsoft.com/office/drawing/2014/main" val="10003"/>
                  </a:ext>
                </a:extLst>
              </a:tr>
              <a:tr h="400050">
                <a:tc>
                  <a:txBody>
                    <a:bodyPr/>
                    <a:lstStyle/>
                    <a:p>
                      <a:pPr algn="l"/>
                      <a:r>
                        <a:rPr sz="1800" b="0" dirty="0">
                          <a:solidFill>
                            <a:srgbClr val="000000"/>
                          </a:solidFill>
                          <a:latin typeface="Arial"/>
                          <a:ea typeface="Arial"/>
                          <a:cs typeface="Arial"/>
                          <a:hlinkClick r:id="rId5"/>
                        </a:rPr>
                        <a:t>2 A adapter</a:t>
                      </a:r>
                      <a:endParaRPr dirty="0"/>
                    </a:p>
                  </a:txBody>
                  <a:tcPr/>
                </a:tc>
                <a:tc>
                  <a:txBody>
                    <a:bodyPr/>
                    <a:lstStyle/>
                    <a:p>
                      <a:pPr algn="ctr"/>
                      <a:r>
                        <a:rPr sz="1800" b="0">
                          <a:solidFill>
                            <a:srgbClr val="000000"/>
                          </a:solidFill>
                          <a:latin typeface="Arial"/>
                          <a:ea typeface="Arial"/>
                          <a:cs typeface="Arial"/>
                        </a:rPr>
                        <a:t>No</a:t>
                      </a:r>
                      <a:endParaRPr/>
                    </a:p>
                  </a:txBody>
                  <a:tcPr/>
                </a:tc>
                <a:tc>
                  <a:txBody>
                    <a:bodyPr/>
                    <a:lstStyle/>
                    <a:p>
                      <a:pPr algn="ctr"/>
                      <a:r>
                        <a:rPr sz="1800" b="0">
                          <a:solidFill>
                            <a:srgbClr val="000000"/>
                          </a:solidFill>
                          <a:latin typeface="Arial"/>
                          <a:ea typeface="Arial"/>
                          <a:cs typeface="Arial"/>
                        </a:rPr>
                        <a:t>$15.98</a:t>
                      </a:r>
                      <a:endParaRPr/>
                    </a:p>
                  </a:txBody>
                  <a:tcPr/>
                </a:tc>
                <a:extLst>
                  <a:ext uri="{0D108BD9-81ED-4DB2-BD59-A6C34878D82A}">
                    <a16:rowId xmlns:a16="http://schemas.microsoft.com/office/drawing/2014/main" val="10004"/>
                  </a:ext>
                </a:extLst>
              </a:tr>
              <a:tr h="400050">
                <a:tc>
                  <a:txBody>
                    <a:bodyPr/>
                    <a:lstStyle/>
                    <a:p>
                      <a:pPr algn="l"/>
                      <a:r>
                        <a:rPr sz="1800" b="0" dirty="0">
                          <a:solidFill>
                            <a:srgbClr val="000000"/>
                          </a:solidFill>
                          <a:latin typeface="Arial"/>
                          <a:ea typeface="Arial"/>
                          <a:cs typeface="Arial"/>
                        </a:rPr>
                        <a:t>2 small buttons + </a:t>
                      </a:r>
                      <a:r>
                        <a:rPr lang="en-US" sz="1800" b="0" dirty="0">
                          <a:solidFill>
                            <a:srgbClr val="000000"/>
                          </a:solidFill>
                          <a:latin typeface="Arial"/>
                          <a:ea typeface="Arial"/>
                          <a:cs typeface="Arial"/>
                        </a:rPr>
                        <a:t>4</a:t>
                      </a:r>
                      <a:r>
                        <a:rPr sz="1800" b="0" dirty="0">
                          <a:solidFill>
                            <a:srgbClr val="000000"/>
                          </a:solidFill>
                          <a:latin typeface="Arial"/>
                          <a:ea typeface="Arial"/>
                          <a:cs typeface="Arial"/>
                        </a:rPr>
                        <a:t> 10 </a:t>
                      </a:r>
                      <a:r>
                        <a:rPr sz="1800" b="0" dirty="0" err="1">
                          <a:solidFill>
                            <a:srgbClr val="000000"/>
                          </a:solidFill>
                          <a:latin typeface="Arial"/>
                          <a:ea typeface="Arial"/>
                          <a:cs typeface="Arial"/>
                        </a:rPr>
                        <a:t>kOhm</a:t>
                      </a:r>
                      <a:r>
                        <a:rPr sz="1800" b="0" dirty="0">
                          <a:solidFill>
                            <a:srgbClr val="000000"/>
                          </a:solidFill>
                          <a:latin typeface="Arial"/>
                          <a:ea typeface="Arial"/>
                          <a:cs typeface="Arial"/>
                        </a:rPr>
                        <a:t> resistors</a:t>
                      </a:r>
                      <a:endParaRPr dirty="0"/>
                    </a:p>
                  </a:txBody>
                  <a:tcPr/>
                </a:tc>
                <a:tc>
                  <a:txBody>
                    <a:bodyPr/>
                    <a:lstStyle/>
                    <a:p>
                      <a:pPr algn="ctr"/>
                      <a:r>
                        <a:rPr sz="1800" b="0">
                          <a:solidFill>
                            <a:srgbClr val="000000"/>
                          </a:solidFill>
                          <a:latin typeface="Arial"/>
                          <a:ea typeface="Arial"/>
                          <a:cs typeface="Arial"/>
                        </a:rPr>
                        <a:t>Kit / OEDK*</a:t>
                      </a:r>
                      <a:endParaRPr/>
                    </a:p>
                  </a:txBody>
                  <a:tcPr/>
                </a:tc>
                <a:tc>
                  <a:txBody>
                    <a:bodyPr/>
                    <a:lstStyle/>
                    <a:p>
                      <a:pPr algn="ctr"/>
                      <a:r>
                        <a:rPr sz="1800" b="0">
                          <a:solidFill>
                            <a:srgbClr val="000000"/>
                          </a:solidFill>
                          <a:latin typeface="Arial"/>
                          <a:ea typeface="Arial"/>
                          <a:cs typeface="Arial"/>
                        </a:rPr>
                        <a:t>$0*</a:t>
                      </a:r>
                      <a:endParaRPr/>
                    </a:p>
                  </a:txBody>
                  <a:tcPr/>
                </a:tc>
                <a:extLst>
                  <a:ext uri="{0D108BD9-81ED-4DB2-BD59-A6C34878D82A}">
                    <a16:rowId xmlns:a16="http://schemas.microsoft.com/office/drawing/2014/main" val="10005"/>
                  </a:ext>
                </a:extLst>
              </a:tr>
              <a:tr h="400050">
                <a:tc>
                  <a:txBody>
                    <a:bodyPr/>
                    <a:lstStyle/>
                    <a:p>
                      <a:pPr algn="l"/>
                      <a:r>
                        <a:rPr sz="1800" b="0">
                          <a:solidFill>
                            <a:srgbClr val="000000"/>
                          </a:solidFill>
                          <a:latin typeface="Arial"/>
                          <a:ea typeface="Arial"/>
                          <a:cs typeface="Arial"/>
                        </a:rPr>
                        <a:t>Prototype board, wire and headers</a:t>
                      </a:r>
                      <a:endParaRPr/>
                    </a:p>
                  </a:txBody>
                  <a:tcPr/>
                </a:tc>
                <a:tc>
                  <a:txBody>
                    <a:bodyPr/>
                    <a:lstStyle/>
                    <a:p>
                      <a:pPr algn="ctr"/>
                      <a:r>
                        <a:rPr sz="1800" b="0">
                          <a:solidFill>
                            <a:srgbClr val="000000"/>
                          </a:solidFill>
                          <a:latin typeface="Arial"/>
                          <a:ea typeface="Arial"/>
                          <a:cs typeface="Arial"/>
                        </a:rPr>
                        <a:t>Kit / OEDK*</a:t>
                      </a:r>
                      <a:endParaRPr/>
                    </a:p>
                  </a:txBody>
                  <a:tcPr/>
                </a:tc>
                <a:tc>
                  <a:txBody>
                    <a:bodyPr/>
                    <a:lstStyle/>
                    <a:p>
                      <a:pPr algn="ctr"/>
                      <a:r>
                        <a:rPr sz="1800" b="0">
                          <a:solidFill>
                            <a:srgbClr val="000000"/>
                          </a:solidFill>
                          <a:latin typeface="Arial"/>
                          <a:ea typeface="Arial"/>
                          <a:cs typeface="Arial"/>
                        </a:rPr>
                        <a:t>$0*</a:t>
                      </a:r>
                      <a:endParaRPr/>
                    </a:p>
                  </a:txBody>
                  <a:tcPr/>
                </a:tc>
                <a:extLst>
                  <a:ext uri="{0D108BD9-81ED-4DB2-BD59-A6C34878D82A}">
                    <a16:rowId xmlns:a16="http://schemas.microsoft.com/office/drawing/2014/main" val="10006"/>
                  </a:ext>
                </a:extLst>
              </a:tr>
              <a:tr h="400050">
                <a:tc>
                  <a:txBody>
                    <a:bodyPr/>
                    <a:lstStyle/>
                    <a:p>
                      <a:pPr algn="l"/>
                      <a:r>
                        <a:rPr lang="en-US" sz="1800" b="0" dirty="0">
                          <a:solidFill>
                            <a:srgbClr val="000000"/>
                          </a:solidFill>
                          <a:latin typeface="Arial"/>
                          <a:cs typeface="Arial"/>
                        </a:rPr>
                        <a:t>Cyberdeck case (I still have to figure this one out, potentially a print)</a:t>
                      </a:r>
                      <a:endParaRPr dirty="0"/>
                    </a:p>
                  </a:txBody>
                  <a:tcPr/>
                </a:tc>
                <a:tc>
                  <a:txBody>
                    <a:bodyPr/>
                    <a:lstStyle/>
                    <a:p>
                      <a:pPr algn="ctr"/>
                      <a:r>
                        <a:rPr lang="en-US" sz="1800" b="0" dirty="0">
                          <a:solidFill>
                            <a:srgbClr val="000000"/>
                          </a:solidFill>
                          <a:latin typeface="Arial"/>
                          <a:ea typeface="Arial"/>
                          <a:cs typeface="Arial"/>
                        </a:rPr>
                        <a:t>No</a:t>
                      </a:r>
                      <a:endParaRPr dirty="0"/>
                    </a:p>
                  </a:txBody>
                  <a:tcPr/>
                </a:tc>
                <a:tc>
                  <a:txBody>
                    <a:bodyPr/>
                    <a:lstStyle/>
                    <a:p>
                      <a:pPr algn="ctr"/>
                      <a:r>
                        <a:rPr sz="1800" b="0" dirty="0">
                          <a:solidFill>
                            <a:srgbClr val="000000"/>
                          </a:solidFill>
                          <a:latin typeface="Arial"/>
                          <a:ea typeface="Arial"/>
                          <a:cs typeface="Arial"/>
                        </a:rPr>
                        <a:t>TBD</a:t>
                      </a:r>
                      <a:endParaRPr dirty="0"/>
                    </a:p>
                  </a:txBody>
                  <a:tcPr/>
                </a:tc>
                <a:extLst>
                  <a:ext uri="{0D108BD9-81ED-4DB2-BD59-A6C34878D82A}">
                    <a16:rowId xmlns:a16="http://schemas.microsoft.com/office/drawing/2014/main" val="10007"/>
                  </a:ext>
                </a:extLst>
              </a:tr>
            </a:tbl>
          </a:graphicData>
        </a:graphic>
      </p:graphicFrame>
      <p:sp>
        <p:nvSpPr>
          <p:cNvPr id="5" name="TextBox 4">
            <a:extLst>
              <a:ext uri="{FF2B5EF4-FFF2-40B4-BE49-F238E27FC236}">
                <a16:creationId xmlns:a16="http://schemas.microsoft.com/office/drawing/2014/main" id="{C76A6262-9FAA-5DFD-2905-9E34A05EDCE4}"/>
              </a:ext>
            </a:extLst>
          </p:cNvPr>
          <p:cNvSpPr>
            <a:spLocks noGrp="1"/>
          </p:cNvSpPr>
          <p:nvPr/>
        </p:nvSpPr>
        <p:spPr>
          <a:xfrm>
            <a:off x="609600" y="4953000"/>
            <a:ext cx="7828280" cy="914400"/>
          </a:xfrm>
          <a:prstGeom prst="rect">
            <a:avLst/>
          </a:prstGeom>
          <a:noFill/>
        </p:spPr>
        <p:txBody>
          <a:bodyPr wrap="none" lIns="0" tIns="0" rIns="0" bIns="0">
            <a:noAutofit/>
          </a:bodyPr>
          <a:lstStyle/>
          <a:p>
            <a:pPr>
              <a:defRPr sz="1800">
                <a:solidFill>
                  <a:srgbClr val="000000"/>
                </a:solidFill>
                <a:latin typeface="Arial"/>
                <a:ea typeface="Arial"/>
                <a:cs typeface="Arial"/>
              </a:defRPr>
            </a:pPr>
            <a:r>
              <a:rPr sz="1800" dirty="0">
                <a:solidFill>
                  <a:srgbClr val="000000"/>
                </a:solidFill>
                <a:latin typeface="Arial"/>
                <a:ea typeface="Arial"/>
                <a:cs typeface="Arial"/>
              </a:rPr>
              <a:t>Estimated new electronics: $57.83. Proposed EDES301 purchase: $29.95.</a:t>
            </a:r>
          </a:p>
          <a:p>
            <a:pPr>
              <a:defRPr sz="1800">
                <a:solidFill>
                  <a:srgbClr val="000000"/>
                </a:solidFill>
                <a:latin typeface="Arial"/>
                <a:ea typeface="Arial"/>
                <a:cs typeface="Arial"/>
              </a:defRPr>
            </a:pPr>
            <a:r>
              <a:rPr sz="1800" dirty="0">
                <a:solidFill>
                  <a:srgbClr val="000000"/>
                </a:solidFill>
                <a:latin typeface="Arial"/>
                <a:ea typeface="Arial"/>
                <a:cs typeface="Arial"/>
              </a:rPr>
              <a:t>Two off-list timing buttons</a:t>
            </a:r>
            <a:r>
              <a:rPr lang="en-US" sz="1800" dirty="0">
                <a:solidFill>
                  <a:srgbClr val="000000"/>
                </a:solidFill>
                <a:latin typeface="Arial"/>
                <a:ea typeface="Arial"/>
                <a:cs typeface="Arial"/>
              </a:rPr>
              <a:t>, and the case will not be on the list either.</a:t>
            </a:r>
            <a:endParaRPr sz="1800" dirty="0">
              <a:solidFill>
                <a:srgbClr val="000000"/>
              </a:solidFill>
              <a:latin typeface="Arial"/>
              <a:ea typeface="Arial"/>
              <a:cs typeface="Arial"/>
            </a:endParaRPr>
          </a:p>
        </p:txBody>
      </p:sp>
    </p:spTree>
    <p:extLst>
      <p:ext uri="{BB962C8B-B14F-4D97-AF65-F5344CB8AC3E}">
        <p14:creationId xmlns:p14="http://schemas.microsoft.com/office/powerpoint/2010/main" val="491088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Custom 3">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8566</TotalTime>
  <Words>1540</Words>
  <Application>Microsoft Office PowerPoint</Application>
  <PresentationFormat>Widescreen</PresentationFormat>
  <Paragraphs>109</Paragraphs>
  <Slides>5</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Diamond Grid 16x9</vt:lpstr>
      <vt:lpstr>EDES 301  Beer Bike Pit Console Project Proposal</vt:lpstr>
      <vt:lpstr>Background Information</vt:lpstr>
      <vt:lpstr>System Block Diagram</vt:lpstr>
      <vt:lpstr>Power Block Diagram</vt:lpstr>
      <vt:lpstr>Components / Budget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Erik Welsh</dc:creator>
  <cp:lastModifiedBy>Owen Button</cp:lastModifiedBy>
  <cp:revision>415</cp:revision>
  <dcterms:created xsi:type="dcterms:W3CDTF">2018-01-09T20:24:50Z</dcterms:created>
  <dcterms:modified xsi:type="dcterms:W3CDTF">2026-10-07T23:30:56Z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